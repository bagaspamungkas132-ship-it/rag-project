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8102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C8102E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FLEX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“one rate for everyone” to “the right rate for the right customer at the right time”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dynamic pricing for TAKA Online &amp; Deposito Online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HACKATHON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424160" y="6126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OCBC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Indonesia’s banking customers now expect personalized, digital-first pricing — but Time Deposit &amp; Installment Savings still offer everyone the same rate.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3818" cy="4206240"/>
          </a:xfrm>
          <a:prstGeom prst="roundRect">
            <a:avLst>
              <a:gd name="adj" fmla="val 2137"/>
            </a:avLst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500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96661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Indonesia: ~284.7M people (2025)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+ Millennials = 49.27% of population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native, used to personalized promos, loyalty rewards &amp; gamification on marketplaces, hotels, ticketing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2148840"/>
            <a:ext cx="3423818" cy="4206240"/>
          </a:xfrm>
          <a:prstGeom prst="roundRect">
            <a:avLst>
              <a:gd name="adj" fmla="val 2137"/>
            </a:avLst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2538" y="23500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Pain Point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834640"/>
            <a:ext cx="296661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&amp; Installment Savings still use one standardized promo rate for all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transaction history, holdings, balance, profitability, engagement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both conversion and margin optimization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2148840"/>
            <a:ext cx="3423818" cy="4206240"/>
          </a:xfrm>
          <a:prstGeom prst="roundRect">
            <a:avLst>
              <a:gd name="adj" fmla="val 2137"/>
            </a:avLst>
          </a:prstGeom>
          <a:solidFill>
            <a:srgbClr val="F6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56397" y="23500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&amp; Who's Impacted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56397" y="2834640"/>
            <a:ext cx="296661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Rate/promo is set uniformly, with no customer-level personalization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Affluent segment — mostly tech-savvy Gen Z &amp; Millennials — feel this gap most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incentive for them to deepen or stay loyal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6 — Price Flex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that recommends a personalized interest rate for every TAKA Online / Deposito Online purchase.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27168" cy="4297680"/>
          </a:xfrm>
          <a:prstGeom prst="roundRect">
            <a:avLst>
              <a:gd name="adj" fmla="val 1702"/>
            </a:avLst>
          </a:prstGeom>
          <a:solidFill>
            <a:srgbClr val="F6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4678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customer behavior, value, needs &amp; propensity using internal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 personalized rate/promo within a treasury pre-approved range — controlled, not fully open pricing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Auto-filters eligible customers by balance size, cash flow stability, tenor fit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guardrails: pricing stays within risk/treasury boundaries and avoids unfair or discriminatory pricing across similar segments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2057400"/>
            <a:ext cx="5227168" cy="4297680"/>
          </a:xfrm>
          <a:prstGeom prst="roundRect">
            <a:avLst>
              <a:gd name="adj" fmla="val 1702"/>
            </a:avLst>
          </a:prstGeom>
          <a:solidFill>
            <a:srgbClr val="F6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98768" y="283464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19392" y="277977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19392" y="3054096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balance, funding/lending history, transaction patterns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98768" y="3730752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98768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19392" y="3675888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19392" y="3950208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propensity &amp; recommends a rate within the approved range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98768" y="4626864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98768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19392" y="4572000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Check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19392" y="484632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treasury limits &amp; fairness rules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98768" y="5522976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98768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19392" y="5468112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19392" y="57424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personalized, relevant offer on TAKA/Deposito Online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6 — Price Flex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4892040"/>
          </a:xfrm>
          <a:prstGeom prst="roundRect">
            <a:avLst>
              <a:gd name="adj" fmla="val 149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/ SCREENSHOTS GO HERE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840480"/>
            <a:ext cx="8716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recorded demo video (recommended), or paste 2–3 screenshots showing: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input → AI-recommended rate → personalized offer shown to customer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6 — Price Flex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27168" cy="5029200"/>
          </a:xfrm>
          <a:prstGeom prst="roundRect">
            <a:avLst>
              <a:gd name="adj" fmla="val 1455"/>
            </a:avLst>
          </a:prstGeom>
          <a:solidFill>
            <a:srgbClr val="F6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29968"/>
            <a:ext cx="46785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&amp; incremental revenue from personalized, relevant rates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margin control — rate stays within treasury-approved boundaries instead of raising rates uniformly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engagement &amp; loyalty among the Emerging Affluent, digitally-savvy segment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OCBC from “one rate for everyone” to “the right rate for the right customer at the right time”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480560"/>
            <a:ext cx="46785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6177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Value Capture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29200"/>
            <a:ext cx="4678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existing pricing systems, upskilling treasury/product teams, workflow changes, and clear ownership of the model within the funding product 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1371600"/>
            <a:ext cx="5227168" cy="5029200"/>
          </a:xfrm>
          <a:prstGeom prst="roundRect">
            <a:avLst>
              <a:gd name="adj" fmla="val 1455"/>
            </a:avLst>
          </a:prstGeom>
          <a:solidFill>
            <a:srgbClr val="F6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16002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029968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Access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304288"/>
            <a:ext cx="467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availability, and privacy/approvals needed to use customer transaction &amp; profitability data.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306324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Dependencies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3337560"/>
            <a:ext cx="467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review, treasury sign-off on pricing ranges, and guardrails against discriminatory pricing across similar segments.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98768" y="4480560"/>
            <a:ext cx="46785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98768" y="46177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Start with TD / Installment Savings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98768" y="4983480"/>
            <a:ext cx="467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tenors and more predictable liquidity make funding products an easier, lower-risk starting point for dynamic pricing than lending.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6 — Price Flex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A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C8102E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for judge Q&amp;A — not part of the 6-minute pitch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754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 Estimation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3200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3063240"/>
                <a:gridCol w="2880360"/>
                <a:gridCol w="1005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or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&amp;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/ revenue uplift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conversion rate on TAKA/Deposito Online offers, personalized vs standard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 against dynamic-pricing uplift seen in tiket.com / Traveloka-style personalization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funds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delta vs. uniform promo rate, at same funding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pre-approved rate range; assumptions to be validated in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engagement &amp;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purchase / balance retention among Emerging Affluent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behavior &amp; pilot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&amp;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Rated High/Med/Low vs. current one-rate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judgement (not explicitly monetized)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09160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84632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benefit a proxy metric, a stated assumption, and a confidence level — a range with a basis beats a precise number without one.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benefits count: measure them by observable behavior or a rated scale.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78992" y="4754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36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Savings, funding/lending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transactions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947672"/>
            <a:ext cx="411480" cy="219456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536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scoring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recommendation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947672"/>
            <a:ext cx="411480" cy="219456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536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range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rules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947672"/>
            <a:ext cx="411480" cy="219456"/>
          </a:xfrm>
          <a:prstGeom prst="rightArrow">
            <a:avLst/>
          </a:prstGeom>
          <a:solidFill>
            <a:srgbClr val="C810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4040" y="15361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/ Deposito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1091153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29000"/>
            <a:ext cx="5227168" cy="1645920"/>
          </a:xfrm>
          <a:prstGeom prst="roundRect">
            <a:avLst>
              <a:gd name="adj" fmla="val 4444"/>
            </a:avLst>
          </a:prstGeom>
          <a:solidFill>
            <a:srgbClr val="F6F6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63016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Claude API · Pinecone · React · AWS Lambda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24448" y="3429000"/>
            <a:ext cx="5227168" cy="1645920"/>
          </a:xfrm>
          <a:prstGeom prst="roundRect">
            <a:avLst>
              <a:gd name="adj" fmla="val 4444"/>
            </a:avLst>
          </a:prstGeom>
          <a:solidFill>
            <a:srgbClr val="F6F6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98768" y="363016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Model(s)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98768" y="406908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name, fine-tuning approach, prompt strategy, RAG details — to be finalized during build.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5288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59775" y="6528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Information Classification: 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2026-09-04T03:14:13Z</dcterms:created>
  <dcterms:modified xsi:type="dcterms:W3CDTF">2026-09-04T03:14:13Z</dcterms:modified>
</cp:coreProperties>
</file>